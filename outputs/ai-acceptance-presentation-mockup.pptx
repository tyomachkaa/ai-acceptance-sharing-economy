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4aaf040e9458c" /><Relationship Type="http://schemas.openxmlformats.org/officeDocument/2006/relationships/extended-properties" Target="/docProps/app.xml" Id="R0260d86628d247fb" /><Relationship Type="http://schemas.openxmlformats.org/officeDocument/2006/relationships/officeDocument" Target="/ppt/presentation.xml" Id="R9919c50eb0284e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b8ec723104fd9"/>
  </p:sldMasterIdLst>
  <p:notesMasterIdLst>
    <p:notesMasterId xmlns:r="http://schemas.openxmlformats.org/officeDocument/2006/relationships" r:id="R2ad4fd8eb3c74ae7"/>
  </p:notesMasterIdLst>
  <p:sldIdLst>
    <p:sldId xmlns:r="http://schemas.openxmlformats.org/officeDocument/2006/relationships" id="256" r:id="R6013e4797c0a4f63"/>
    <p:sldId xmlns:r="http://schemas.openxmlformats.org/officeDocument/2006/relationships" id="257" r:id="R1efc0b6a47fb46af"/>
    <p:sldId xmlns:r="http://schemas.openxmlformats.org/officeDocument/2006/relationships" id="258" r:id="Rcad4bc7f0b6142d5"/>
    <p:sldId xmlns:r="http://schemas.openxmlformats.org/officeDocument/2006/relationships" id="259" r:id="R8d364cd9330e45fc"/>
    <p:sldId xmlns:r="http://schemas.openxmlformats.org/officeDocument/2006/relationships" id="260" r:id="Raca72c3f6b33491a"/>
    <p:sldId xmlns:r="http://schemas.openxmlformats.org/officeDocument/2006/relationships" id="261" r:id="Reedda16707b94632"/>
    <p:sldId xmlns:r="http://schemas.openxmlformats.org/officeDocument/2006/relationships" id="262" r:id="Rc05bf34bdc1a42a6"/>
    <p:sldId xmlns:r="http://schemas.openxmlformats.org/officeDocument/2006/relationships" id="263" r:id="Ra1be8884bac34e5b"/>
    <p:sldId xmlns:r="http://schemas.openxmlformats.org/officeDocument/2006/relationships" id="264" r:id="R0b2872d7d95b4999"/>
    <p:sldId xmlns:r="http://schemas.openxmlformats.org/officeDocument/2006/relationships" id="265" r:id="R3f03f1da7f274367"/>
    <p:sldId xmlns:r="http://schemas.openxmlformats.org/officeDocument/2006/relationships" id="266" r:id="Red867646462b4fc2"/>
    <p:sldId xmlns:r="http://schemas.openxmlformats.org/officeDocument/2006/relationships" id="267" r:id="R86dea9de53174c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ed1825e7641da" /><Relationship Type="http://schemas.openxmlformats.org/officeDocument/2006/relationships/slideMaster" Target="/ppt/slideMasters/slideMaster1.xml" Id="Rf54b8ec723104fd9" /><Relationship Type="http://schemas.openxmlformats.org/officeDocument/2006/relationships/notesMaster" Target="/ppt/notesMasters/notesMaster1.xml" Id="R2ad4fd8eb3c74ae7" /><Relationship Type="http://schemas.openxmlformats.org/officeDocument/2006/relationships/presProps" Target="/ppt/presProps.xml" Id="R2e2fbdefca434e66" /><Relationship Type="http://schemas.openxmlformats.org/officeDocument/2006/relationships/viewProps" Target="/ppt/viewProps.xml" Id="Rf53000557ce94352" /><Relationship Type="http://schemas.openxmlformats.org/officeDocument/2006/relationships/tableStyles" Target="/ppt/tableStyles.xml" Id="R53e71b1c166849dc" /><Relationship Type="http://schemas.openxmlformats.org/officeDocument/2006/relationships/slide" Target="/ppt/slides/slide1.xml" Id="R6013e4797c0a4f63" /><Relationship Type="http://schemas.openxmlformats.org/officeDocument/2006/relationships/slide" Target="/ppt/slides/slide2.xml" Id="R1efc0b6a47fb46af" /><Relationship Type="http://schemas.openxmlformats.org/officeDocument/2006/relationships/slide" Target="/ppt/slides/slide3.xml" Id="Rcad4bc7f0b6142d5" /><Relationship Type="http://schemas.openxmlformats.org/officeDocument/2006/relationships/slide" Target="/ppt/slides/slide4.xml" Id="R8d364cd9330e45fc" /><Relationship Type="http://schemas.openxmlformats.org/officeDocument/2006/relationships/slide" Target="/ppt/slides/slide5.xml" Id="Raca72c3f6b33491a" /><Relationship Type="http://schemas.openxmlformats.org/officeDocument/2006/relationships/slide" Target="/ppt/slides/slide6.xml" Id="Reedda16707b94632" /><Relationship Type="http://schemas.openxmlformats.org/officeDocument/2006/relationships/slide" Target="/ppt/slides/slide7.xml" Id="Rc05bf34bdc1a42a6" /><Relationship Type="http://schemas.openxmlformats.org/officeDocument/2006/relationships/slide" Target="/ppt/slides/slide8.xml" Id="Ra1be8884bac34e5b" /><Relationship Type="http://schemas.openxmlformats.org/officeDocument/2006/relationships/slide" Target="/ppt/slides/slide9.xml" Id="R0b2872d7d95b4999" /><Relationship Type="http://schemas.openxmlformats.org/officeDocument/2006/relationships/slide" Target="/ppt/slides/slide10.xml" Id="R3f03f1da7f274367" /><Relationship Type="http://schemas.openxmlformats.org/officeDocument/2006/relationships/slide" Target="/ppt/slides/slide11.xml" Id="Red867646462b4fc2" /><Relationship Type="http://schemas.openxmlformats.org/officeDocument/2006/relationships/slide" Target="/ppt/slides/slide12.xml" Id="R86dea9de53174c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4e5a8bf90745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8db5ba1e154c55" /><Relationship Type="http://schemas.openxmlformats.org/officeDocument/2006/relationships/notesMaster" Target="/ppt/notesMasters/notesMaster1.xml" Id="R10b4a2ba133d48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94e2f2e314c75" /><Relationship Type="http://schemas.openxmlformats.org/officeDocument/2006/relationships/notesMaster" Target="/ppt/notesMasters/notesMaster1.xml" Id="R12d812355cf740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7a5d8007634966" /><Relationship Type="http://schemas.openxmlformats.org/officeDocument/2006/relationships/notesMaster" Target="/ppt/notesMasters/notesMaster1.xml" Id="R0a350081975e44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c5a1dd173041fc" /><Relationship Type="http://schemas.openxmlformats.org/officeDocument/2006/relationships/notesMaster" Target="/ppt/notesMasters/notesMaster1.xml" Id="R9ab2a37faccd48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6c6f21445f4315" /><Relationship Type="http://schemas.openxmlformats.org/officeDocument/2006/relationships/notesMaster" Target="/ppt/notesMasters/notesMaster1.xml" Id="Ra15965ab694246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59807df1ae4944" /><Relationship Type="http://schemas.openxmlformats.org/officeDocument/2006/relationships/notesMaster" Target="/ppt/notesMasters/notesMaster1.xml" Id="R53895f40e33044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3e3ede4e3146ca" /><Relationship Type="http://schemas.openxmlformats.org/officeDocument/2006/relationships/notesMaster" Target="/ppt/notesMasters/notesMaster1.xml" Id="R42f1d6671da0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bf6ebfc5142ed" /><Relationship Type="http://schemas.openxmlformats.org/officeDocument/2006/relationships/notesMaster" Target="/ppt/notesMasters/notesMaster1.xml" Id="Rcb7d4e36800a46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7b5c1b6e314b2a" /><Relationship Type="http://schemas.openxmlformats.org/officeDocument/2006/relationships/notesMaster" Target="/ppt/notesMasters/notesMaster1.xml" Id="R7231bbd8e37a41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cca88a5dc44d4c" /><Relationship Type="http://schemas.openxmlformats.org/officeDocument/2006/relationships/notesMaster" Target="/ppt/notesMasters/notesMaster1.xml" Id="Rc59a01f9fab14b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ea0f2a592e54f6f" /><Relationship Type="http://schemas.openxmlformats.org/officeDocument/2006/relationships/notesMaster" Target="/ppt/notesMasters/notesMaster1.xml" Id="Raf2fceb0fcc84bc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3bfbcfb6a540e6" /><Relationship Type="http://schemas.openxmlformats.org/officeDocument/2006/relationships/notesMaster" Target="/ppt/notesMasters/notesMaster1.xml" Id="R090d8177b3fa4a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3f0b478e440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c6568e0dd458d" /><Relationship Type="http://schemas.openxmlformats.org/officeDocument/2006/relationships/slideLayout" Target="/ppt/slideLayouts/slideLayout1.xml" Id="R4256e941888442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6e941888442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830209df34948" /><Relationship Type="http://schemas.openxmlformats.org/officeDocument/2006/relationships/notesSlide" Target="/ppt/notesSlides/notesSlide1.xml" Id="R259242ea709243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f2c600a9445fe" /><Relationship Type="http://schemas.openxmlformats.org/officeDocument/2006/relationships/notesSlide" Target="/ppt/notesSlides/notesSlide2.xml" Id="R6c4a1955d42d43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52ee94058423c" /><Relationship Type="http://schemas.openxmlformats.org/officeDocument/2006/relationships/notesSlide" Target="/ppt/notesSlides/notesSlide3.xml" Id="R2c40ca14ac20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d226e33c34514" /><Relationship Type="http://schemas.openxmlformats.org/officeDocument/2006/relationships/notesSlide" Target="/ppt/notesSlides/notesSlide4.xml" Id="R6fa596c44134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bbb5499b7427a" /><Relationship Type="http://schemas.openxmlformats.org/officeDocument/2006/relationships/image" Target="/ppt/media/image.png" Id="R0980cb8c63ef4e5f" /><Relationship Type="http://schemas.openxmlformats.org/officeDocument/2006/relationships/notesSlide" Target="/ppt/notesSlides/notesSlide5.xml" Id="R42d3107462f94e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fff3d0a434ec9" /><Relationship Type="http://schemas.openxmlformats.org/officeDocument/2006/relationships/image" Target="/ppt/media/image2.png" Id="R80ad23c4cc7f4778" /><Relationship Type="http://schemas.openxmlformats.org/officeDocument/2006/relationships/notesSlide" Target="/ppt/notesSlides/notesSlide6.xml" Id="Re2052c1af83d4b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ffa7aaf1949d4" /><Relationship Type="http://schemas.openxmlformats.org/officeDocument/2006/relationships/image" Target="/ppt/media/image3.png" Id="R128196393363404c" /><Relationship Type="http://schemas.openxmlformats.org/officeDocument/2006/relationships/notesSlide" Target="/ppt/notesSlides/notesSlide7.xml" Id="R18a0756cd88a42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3c50583f4451f" /><Relationship Type="http://schemas.openxmlformats.org/officeDocument/2006/relationships/image" Target="/ppt/media/image4.png" Id="R673b8667ba7040f9" /><Relationship Type="http://schemas.openxmlformats.org/officeDocument/2006/relationships/notesSlide" Target="/ppt/notesSlides/notesSlide8.xml" Id="R6a45234ed1a04c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15ca285bb4627" /><Relationship Type="http://schemas.openxmlformats.org/officeDocument/2006/relationships/notesSlide" Target="/ppt/notesSlides/notesSlide9.xml" Id="R9bb1d23c9fd743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bcc4aaa73473a" /><Relationship Type="http://schemas.openxmlformats.org/officeDocument/2006/relationships/image" Target="/ppt/media/image5.png" Id="Rc12a14cef9834857" /><Relationship Type="http://schemas.openxmlformats.org/officeDocument/2006/relationships/notesSlide" Target="/ppt/notesSlides/notesSlide10.xml" Id="Rb71c8bbe10ef43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67f824a3f488b" /><Relationship Type="http://schemas.openxmlformats.org/officeDocument/2006/relationships/image" Target="/ppt/media/image6.png" Id="Rada8f36d7f2e4533" /><Relationship Type="http://schemas.openxmlformats.org/officeDocument/2006/relationships/notesSlide" Target="/ppt/notesSlides/notesSlide11.xml" Id="R5a7104dc7cc64b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e7aa8ee864912" /><Relationship Type="http://schemas.openxmlformats.org/officeDocument/2006/relationships/notesSlide" Target="/ppt/notesSlides/notesSlide12.xml" Id="R05bab711480149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51C6F-BD2F-445A-8001-D4D0A257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85BEC4-B076-4943-8505-7F932A17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748423-5B50-4C4D-A61C-A61C1D9E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FINAL PROJECT PRESENTATION MOCKUP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A381B-6BB5-41BD-A2F7-E7576EFA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7810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AI acceptance depends on whether AI is chosen or imposed.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28A6E-CA23-41FD-9D23-AB37FC29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619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Text mining Reddit and Trustpilot to understand trust, frustration, and adoption of AI agents in sharing-economy service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3154C-90D1-48B7-A007-145C539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38"/>
          </a:solidFill>
          <a:ln xmlns:a="http://schemas.openxmlformats.org/drawingml/2006/main" w="9525">
            <a:solidFill>
              <a:srgbClr val="3B4A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8C765-DC24-4429-9F7A-CE43114C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4BCF41-C60D-4E21-AB7F-BA7C8BEE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105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4,269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B79E1-AC88-4A1D-8447-231307A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E2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E2D6"/>
                </a:solidFill>
                <a:latin typeface="Aptos"/>
                <a:ea typeface="Aptos"/>
                <a:cs typeface="Aptos"/>
              </a:rPr>
              <a:t>Reddit comments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649A0-6CF0-451C-B08F-663C565F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8B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8B9"/>
                </a:solidFill>
                <a:latin typeface="Aptos"/>
                <a:ea typeface="Aptos"/>
                <a:cs typeface="Aptos"/>
              </a:rPr>
              <a:t>discussion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A8A1F-E764-4BEC-9F1B-011D9455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9100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38"/>
          </a:solidFill>
          <a:ln xmlns:a="http://schemas.openxmlformats.org/drawingml/2006/main" w="9525">
            <a:solidFill>
              <a:srgbClr val="3B4A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A105D-5CBA-46E7-9FD5-391258E9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291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A4A10-ACE0-4C37-9C0F-DEC48538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2105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3,912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F6D4-7D9C-4D2F-A6B5-5D42EE61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2440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E2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E2D6"/>
                </a:solidFill>
                <a:latin typeface="Aptos"/>
                <a:ea typeface="Aptos"/>
                <a:cs typeface="Aptos"/>
              </a:rPr>
              <a:t>Trustpilot reviews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791091-EE39-4ADE-8A85-87F7996B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530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8B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8B9"/>
                </a:solidFill>
                <a:latin typeface="Aptos"/>
                <a:ea typeface="Aptos"/>
                <a:cs typeface="Aptos"/>
              </a:rPr>
              <a:t>star-labelled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D0D27-C698-4EF9-B97D-FC6AAE4B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24288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38"/>
          </a:solidFill>
          <a:ln xmlns:a="http://schemas.openxmlformats.org/drawingml/2006/main" w="9525">
            <a:solidFill>
              <a:srgbClr val="3B4A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9E638-F434-4B3A-A6FE-63ADCCFC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5D231-E65C-492E-A7C8-AE226FE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2105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1.89★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0A902-67F9-428B-AB00-113333F3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24400"/>
            <a:ext cx="21050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8E2D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8E2D6"/>
                </a:solidFill>
                <a:latin typeface="Aptos"/>
                <a:ea typeface="Aptos"/>
                <a:cs typeface="Aptos"/>
              </a:rPr>
              <a:t>AI penalty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67005-80DC-4654-A87B-8B5B4D3B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953000"/>
            <a:ext cx="2105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8B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8B9"/>
                </a:solidFill>
                <a:latin typeface="Aptos"/>
                <a:ea typeface="Aptos"/>
                <a:cs typeface="Aptos"/>
              </a:rPr>
              <a:t>2.32★ AI vs 4.21★ non-AI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08D85-A9C1-4A3B-A538-042BF4C5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38200"/>
            <a:ext cx="1562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38"/>
          </a:solidFill>
          <a:ln xmlns:a="http://schemas.openxmlformats.org/drawingml/2006/main" w="9525">
            <a:solidFill>
              <a:srgbClr val="435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23891-6C31-4B60-B6D6-55F1B314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620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Core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B8FE5E-14D1-4726-A4A1-E3AF60B1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5811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AI agents in rental and sharing-economy platforms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50F50-FB26-42B6-A110-4C5AAD90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289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782C4-3FD8-4014-9BFB-96173A97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3855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FF1B5C-8832-4260-A8AE-349C8831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67200"/>
            <a:ext cx="70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48C4C-0288-418D-ACFA-AB782E71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F926D-B443-495D-A1DC-F83166A1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25420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5D9F0A-5095-4495-A4EA-4D326DB5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5F6CF4-AE47-403B-9871-B77839F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B6C9507-343C-4286-8BCA-78771A18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ASSIGNMENT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D26F0-6DB7-40AA-84A7-0298CC59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477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The project meets the brief, with comparison contexts used as guardrails.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97713-1568-41FB-B451-9D12D3F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Present the sharing-economy rental case as the center; AI-native and support contexts explain why acceptance changes by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20C73-5CDA-4027-AFEE-D7A9442E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70FF5-D996-434F-8569-8CFEA89A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Brief 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1E18B-814B-4ABA-B38B-B60380C0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847975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Our implementation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52388-9196-4719-837A-02A07F63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8479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What to say in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4B30F-DE6A-4CE4-9715-B157D91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30B50-CCAF-48F4-A59A-55003A0A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Primary data route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76F4A-00DB-4028-9CA5-DF15C104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813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Route 2: scraped/web-collected 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260B8-E73E-4C92-A47E-17C144F3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381375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Reddit archive + Trustpilot reviews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64B07-289C-4E5F-A2BD-5D0BF166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911D09-FDD9-4A43-9CC5-5AE4CD25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Two classes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4DD91-256F-4661-9543-47E8F6C3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671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Positive vs. negative acceptance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7BA8B4-FB82-4A3C-BD7E-10C1E364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067175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Reddit inferred by lexicon; Trustpilot from stars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30B5-3635-43BE-9ED1-BAE1CA25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6FA7B-F849-4E99-A69E-5114C43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Required methods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BB2569-7280-42DF-84F1-33041C85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7529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Frequency, clouds, networks, sentiment, LDA, embeddings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638940-D40E-4D7E-8042-122FDC0C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52975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All implemented in analysis.R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432D7-44C6-499F-A2E6-F7F485E4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572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39C03-8DD6-4B08-832C-6F4D5D19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38775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Business synthesis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F8A98-E8B5-4BBF-9CBD-C7138D1E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438775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Actionable design and marketing implications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6E91C-2904-48B3-83C6-214C5AF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438775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Transparent, escapable, role-matched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C1E815-E1CA-4093-B693-9788D97F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007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4995D-35C8-4043-B38C-23DD906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10275"/>
            <a:ext cx="394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Caveat: Reddit is discussion context, not direct review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C8F05-CB31-44AB-AE66-FC4FC467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429BF-7D75-40B0-87DD-031E0186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4121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6626CB-CFE9-42B1-A5EE-C98D964A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E93EA5-6C89-4247-BC9B-A50283A8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7EC3A1-8E6F-4593-AD55-ABA07D8E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DATA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58D52-826F-4237-9F4E-92267139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Two corpora give us both open discussion and behavioural validation.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4F9D4-198A-40FE-8475-2539C238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Reddit captures how people talk about AI. Trustpilot adds star ratings from actual service encounters.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850F5A-088C-4221-80A7-E7EC68F8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4480F-D30C-4F1A-B978-BE95090A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E0C5E-2CF3-4F66-A0A4-1704B723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2,027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BEB6E-346A-47AE-9D90-D9EEBE73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AI-native comments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BB546-8D21-4C45-9342-F1A4E56B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context where AI is the 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62C55-6AA2-401E-9ACB-463D2FF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E626A-C26C-4EBF-A088-E3901965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89106-5D7C-4CFA-9B94-451E233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1,715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78ED52-BB7F-4BC1-8A9C-62D2422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Rental comments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6D1EF6-B36E-472E-A2BF-DF4F5108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148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sharing-economy core case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34306-5376-410B-AF39-E04F2F3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456D8F-2B9E-42E2-B168-436D7A82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B8497-E25A-4B04-B5C8-7F8C54DE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527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36C9E-6B12-46D5-9BFE-6003020A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Support comments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A7516-0050-4647-B743-933F57D6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at the service desk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9AC90-5AF2-4853-A184-E5E45025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1940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A48C6B-C4BD-4C43-BBE3-CF30D6B8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Reddit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9ABC1C-12FD-4C1A-8FF5-AC76FC8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6235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discussion baseline</a:t>
            </a:r>
          </a:p>
          <a:p xmlns:a="http://schemas.openxmlformats.org/drawingml/2006/main">
            <a:pPr algn="ctr">
              <a:defRPr sz="13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text-mining depth</a:t>
            </a:r>
          </a:p>
          <a:p xmlns:a="http://schemas.openxmlformats.org/drawingml/2006/main">
            <a:pPr algn="ctr">
              <a:defRPr sz="13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context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8BE37-BDDA-443C-B1DC-2C556E6D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2905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C4F4E-F048-4BDA-B4E2-E8B0FC95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19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DF901-017B-4F97-9048-A5FFFF6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1940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D2D3E-74E8-4225-A4E6-1E25A8B5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Trustpilot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4EC1B-1E69-4EE6-A346-EEE9AB74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transaction reviews</a:t>
            </a:r>
          </a:p>
          <a:p xmlns:a="http://schemas.openxmlformats.org/drawingml/2006/main">
            <a:pPr algn="ctr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1-5 star labels</a:t>
            </a:r>
          </a:p>
          <a:p xmlns:a="http://schemas.openxmlformats.org/drawingml/2006/main">
            <a:pPr algn="ctr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rental-platform 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38BEB7-A8A5-4B1A-A617-2123799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21145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BD41D-99F4-43D2-AA36-E64344DB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571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369C22-9927-4F3D-AD94-0B32B5B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52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Why this is stronger than one source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D3F73C-04EE-4151-94A9-D2FDCE8B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95650"/>
            <a:ext cx="1714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The Reddit labels are inferred, so Trustpilot tests whether the same sentiment logic agrees with real ratings before we use it as evidence.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F3109C-5B8F-4443-9E27-0236A079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80D004-C935-49D8-92D1-39868B0F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032714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646FC-96CF-4A05-88E5-CF2BA92B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8986087-927A-44E6-B75E-CC4C86C1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F790D82-7176-4B9A-9904-1D70BFC6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METHOD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C2270-468F-4150-AAC6-C325295B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620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The analysis pipeline covers the brief and ends in a decision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B0B13-73D7-4664-8880-875DBDC9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90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Each method has a role: describe the vocabulary, reveal structure, test sentiment, and translate findings into AI-agent design.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E7E9B-C1B8-4769-AB66-3C04D80B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33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DE0B8-6567-4A35-87B6-B8F89A78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6A3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6A3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B78EC-A056-47B8-96EF-74D7AFBF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EE4D5-94F7-42D0-A3EE-BC1EBE0A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lowercase, remove punctuation/numbers/stop words, lemmatise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54CCA-57AE-4542-976C-8A5DD78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99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9D7DB-A93C-477A-85DC-67149D6D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B3B38-25EC-4B7E-A5C4-3534709F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33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6B9B3-5ED1-49F6-8F74-40CEB1E6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05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6A3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6A3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72C07-9BD8-436A-9BE6-F7ABBAC5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6651B-F1E9-4A73-928D-B4D7138B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0525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top words, commonality cloud, comparison clouds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0247D-B6CB-44A7-A5E6-AE2ADC2C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99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9FF623-741F-4D37-A333-23368B59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386F2-E4F0-489A-BA10-CA981FF4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52750"/>
            <a:ext cx="133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BD1D7-8C3B-47F4-8EA3-49F6CB3E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6A3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6A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0AB43B-9664-4CBD-92AA-F8829624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DADA83-32C5-49D8-A11C-ED66A5E9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bigram network + NRC emotions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BC9EBD-277B-4AF2-BB87-B3BBF6D6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99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CB289A-15B3-4F6D-BAF2-CB53A726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86871-5909-4AE4-811A-A8F640C3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52750"/>
            <a:ext cx="133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9E213-07FC-44C3-BA47-DFC7AC5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6A3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26A3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EC04D-7E5F-4563-8841-A87EE727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A6D9B-D587-461F-B6EB-B349D0E1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LDA topics + GloVe neighbours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D52775-F5B1-4387-9F82-AACF11D3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099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346342-1F33-4A66-A99B-FFCB08FF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C55ACA-7EA9-4BE2-8AAF-20F61B9D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133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9525">
            <a:solidFill>
              <a:srgbClr val="18212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7E08C0-63ED-4E29-8186-75CB568F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D11BC-5261-4EBF-AEAC-6359BB5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433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623948-47F1-4EA5-B7EB-C24FCEF4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0525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compare inferred class with Trustpilot stars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0D74FF-8FA2-484C-8554-91E27343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B4A6AF-E5E0-49BE-B3BE-86D36F1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52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D3CC4A-5A76-4301-96CD-2B7ACF3E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333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9525">
            <a:solidFill>
              <a:srgbClr val="1821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02596E-FE6D-45D7-A959-B8E9C21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0515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5EC6C0-1075-4CB8-B7FF-A9048B3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433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Synthesize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79AB2-74E8-4E6C-B5B8-9A562C63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05250"/>
            <a:ext cx="1009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role gradient + strategic recommendations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4E30B-C85B-4BB0-9BDD-5DA87FD5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6991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24394A-2F7A-47AB-B14D-1D7868CB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53050"/>
            <a:ext cx="641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Presentation hook: methods become evidence for when users accept AI agents.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065E81-44E9-43CF-BFE8-C4E50FF0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0A7FAF-C1A6-49A1-92F0-BCC7031F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43392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AB167-FF59-4792-ACED-4968B614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706B69D-8CC4-48C2-8C73-1C9538F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74E6F6-0C58-418E-8B1E-3E691870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VOCABULARY SPLIT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A6E3F-856E-49A7-9DA6-DD8730B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Positive text praises useful automation; negative text gets stuck at contact friction.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EA47C-C963-4730-889A-1E66AB07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14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Top words make the acceptance contrast visible before the more advanced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B6482-051A-4823-BE3B-F87ADFFB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7543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0cb8c63ef4e5f"/>
          <a:stretch xmlns:a="http://schemas.openxmlformats.org/drawingml/2006/main"/>
        </p:blipFill>
        <p:spPr>
          <a:xfrm xmlns:a="http://schemas.openxmlformats.org/drawingml/2006/main">
            <a:off x="628650" y="2302087"/>
            <a:ext cx="7391400" cy="37778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F56B1-BC58-41F2-847B-4250A3D7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26479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FEA9E-D62F-47EE-872E-BC85334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38400"/>
            <a:ext cx="571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7EB49-6C1C-4D4A-9A85-3B26199D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98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What to say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D241CE-90E1-4DB5-B506-90324393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2479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Automation is not automatically bad. The positive class also mentions automation, message, support and checks. The difference is whether automation saves time or blocks resolution.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52CAB-114F-49FB-A341-6195C793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647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E8250-5917-48F3-B5D9-FF6C82F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9DFE2-F8F9-4044-BE7C-B87B3D9E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Classroom caveat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B4EC7-698D-4F76-96DF-6E00964F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00650"/>
            <a:ext cx="2247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Airbnb and Turo dominate the rental language, so frame professional gear platforms as part of the broader sharing-economy marketplace sample.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BF5C4-C7FF-473B-B8FA-D2A72D44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9ED20D-1CB7-4CD5-A4EA-A2712ADF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26654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D3F97-D92E-4774-9032-8176C014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7EC941-4789-4FFE-BC34-91B87CDC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C71684-C34B-4C44-AAE4-FE7472F2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SENTIMENT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EDD84-191E-41FA-A5FC-6920AEEC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7239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The emotional gap is really a trust gap.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A3C06-165A-4835-9C2F-A88FF7F0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NRC emotions add nuance beyond the positive/negative split: positive comments show trust, anticipation and joy; negative comments show anger, fear and sadness.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6251B-FA04-4529-ABB5-7816549E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EE0C7-7640-4B46-92A5-D253C69B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0BC95-0FFF-41F4-BE16-19523DCA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Trust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55B97-5441-44CA-AEAD-C2958F2A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widest visible gap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12E03-3CBA-4428-85AD-51B0484B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the sharing-economy currency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559D18-6559-4E3B-BE38-EDC42A44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63BBA-5E22-4E98-98F4-E241F88C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399FC-6C96-4218-8DC3-3593E06F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Anger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68F86-61CE-4CC3-A409-510721A5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negative-class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B2CD3-F484-492D-869F-2831074A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where escalation breaks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9BCD0F-7760-4E73-BC61-325A8CF9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B885B-1B7B-4F53-8C30-916D8469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B9861-E908-4EFE-918C-EDA06297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Fear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C97DC-5E0C-4BDB-8E2E-13B4FF21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negative-class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7EE37-85FC-48AD-A376-92CB73F7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where safety feels uncertain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1786B-4704-4C5D-8BF8-696F6F0D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79057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d23c4cc7f4778"/>
          <a:stretch xmlns:a="http://schemas.openxmlformats.org/drawingml/2006/main"/>
        </p:blipFill>
        <p:spPr>
          <a:xfrm xmlns:a="http://schemas.openxmlformats.org/drawingml/2006/main">
            <a:off x="4344642" y="2533650"/>
            <a:ext cx="6493565" cy="37338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CFAC3-9D02-434E-AD05-88C7981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1664D5-598E-436E-8639-8A40ADAD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330494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B92BD-B3DA-44B4-8EE0-BE109A19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83024C-EF10-48CE-AE1D-226C31FD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05D83FF-D025-4062-938B-3A6C9465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WORD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5A02A-F1A5-4D8F-8F1A-5CC1185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096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The network exposes the human-exit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5BD1F-A307-4DA5-B4D0-05837E10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Bigrams show which words travel together, revealing the structure behind isolated frequency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557AD-51C4-4A09-A9A7-262F3A4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810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196393363404c"/>
          <a:stretch xmlns:a="http://schemas.openxmlformats.org/drawingml/2006/main"/>
        </p:blipFill>
        <p:spPr>
          <a:xfrm xmlns:a="http://schemas.openxmlformats.org/drawingml/2006/main">
            <a:off x="1969477" y="2343150"/>
            <a:ext cx="5090746" cy="3676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E2823-C634-456D-9707-74A8EE3C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343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AE276-D79E-49F2-A346-EEF8B2DF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571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39569-AF90-4657-9E33-77B7AD6E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Reading the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56975-C175-4233-874D-BF674CEC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1943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Contact, support, customer, bot, human, real and person cluster around the same failure mode: users want a real route out when automation cannot solve the case.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BA4AE-59CA-4110-95F1-3D88DA59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343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D38D6-DAD9-4EE9-AC3F-36C2E721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739B6-956A-448F-8DB9-85FD906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434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Slide 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D5E3BD-2DF9-4622-8084-ED9DB0A5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8635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For the final deck, export this chart with a white background and slightly larger labels if it will be projected in a bright room.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904A6-D7E5-4D1F-B1B6-DBCC12FF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7B5C2-1BB9-47B9-9608-00913B85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371969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B7132D-84A1-44A4-A1F1-A0383E40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AEE4293-2D71-46F7-BD1C-A56A9130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88563A-C536-41E8-A60D-DBA3702F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TOPIC MODELLING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82B8E-461F-4869-B1C2-049ADADC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953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LDA turns thousands of comments into service-design themes.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1282D-6073-4230-BD3F-3AE18DB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742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The negative class repeatedly returns to support contact, bots, platform accounts, and host/guest automation.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5439E-F22B-4ED8-AE89-AF19781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6762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b8667ba7040f9"/>
          <a:stretch xmlns:a="http://schemas.openxmlformats.org/drawingml/2006/main"/>
        </p:blipFill>
        <p:spPr>
          <a:xfrm xmlns:a="http://schemas.openxmlformats.org/drawingml/2006/main">
            <a:off x="847725" y="2400300"/>
            <a:ext cx="6096000" cy="3657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453CB-E875-4AA0-B827-E5FFFF24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4F93E-5E55-4047-8CBC-BDC7537E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36BA3-1949-4619-A528-884A9233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95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Negative T1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F2AFF-E531-4DB5-836C-8E31A3F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Airbnb contact, bots, messages, issues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502CC-1BAE-4C7F-A9AC-7BABA0D8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2B2C3-48FA-4EDB-B1C7-38358D7C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33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9A960-AF1D-4DA5-A16D-1192EB42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Negative T2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4012C-9A8A-4A4C-85EE-FE53881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customer, people, human, bot, 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37DC2-3B91-47DE-A7BF-8E4DA735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D1137A-8AE8-4134-B071-DFBE33C0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862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2247C-3116-4AFB-97AF-D6A1A25F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00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Positive T3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88BE8-5C20-444D-8425-3ED0B938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482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host, guest, automate, message,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CFFCE-BDCA-4DC2-96C6-4A8CF517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387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7E4927-E2CC-43A1-B7AD-B7E8A87B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38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11629-5FFF-4F28-9985-EBC30E9B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530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Positive T4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4F56A-627E-4C7C-91EF-486BC852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6007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model, Claude, prompt, system, 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AFBC4-4271-4E94-AAEF-D8C7322B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3C27D-FB65-4CAB-9868-9E80B2CB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061611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3DF25-8B3F-405E-A84C-4C87256B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7B8989E-6006-4A1F-93DC-34F7413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134082F-88CE-4911-8344-42BB071C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EMBEDDINGS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99A4F-3B44-4AE9-A033-4E78C267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42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GloVe independently rediscovers the human-versus-automation tension.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3A31A-FA38-4A2D-88A7-8CAB581A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Nearest neighbours show semantic context learned from the corpus, not a hand-built theme dictionary.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E8A84-49F8-4744-A8EC-EFB4855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C0F6B-7902-42C0-8AAA-FC13E925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Seed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05DB6-DAC7-429B-A71E-FB8BE656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5908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Nearest neighbours in 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251B1-9359-4E50-80F9-A850B627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BCE9F-1A6F-4B31-98E7-7EFE348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765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0FCA4-6CC1-4F6F-81DE-F5E23ECF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765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safety, people, stop, relationship, customer,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3F5B7-163C-4934-9AEC-228CD8DD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3EFA6-E964-4351-96F0-477A078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6DC589-0D74-4B53-85F0-BADEE95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6712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contact, question, phone, support, issue, customer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EEE44-5B15-4B30-B6FF-A601150A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D1DEA-69BA-4746-A9B9-C163C28B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76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A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A38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E25D77-D309-488D-B7F6-39DB88C2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576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real, agent, customer, replace, automation,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1E4C-3BC9-40F1-8A7E-03D8B658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A78A84-AB95-40BB-A469-90AB6CE9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host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83E7B-CF64-43B1-9D41-2765C01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4822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guest, Airbnb, platform, communication, Turo, automate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47D074-E307-4222-8572-3E26B2D6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77F17-AD2B-4BBF-8175-58666095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387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automate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20324-05D6-4549-A3AC-D4DB016D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387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message, guest, set, check, system, send, 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547A9-46A0-4E0E-A068-3465470A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2A5931-D3F4-4D19-8E97-5471B77D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E0EB77-D5FB-4781-985C-58EF1A18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Why it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B766D-44FE-48B3-8D1D-8C465F64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286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The embeddings support the same story from a different method: bot language sits near support/contact, while human sits near real, agent, automation and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D7C37B-1959-4769-A75C-AD9B2C46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686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D6723-B161-42AE-A24F-3DC0BEB2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D14B9E-B26D-43ED-9339-6DE05E8A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Class 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ECE3D2-3C36-424B-BEFF-16BFB331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435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This is the difference between AI as a helpful tool and AI as a barrier in a high-trust transaction.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8147D-A15F-40FA-B32B-43002747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CAC671-9AC1-4214-B5CF-080AE40B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17325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8A34D3-56C2-41A4-8387-A00287DC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122ABEC-0679-47DD-AFF6-47D4E3CA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62661C-5713-4E88-A98B-FA969762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10EE2-141A-4ECB-B968-3CE0666C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828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Trustpilot gives the sentiment split a reality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F2B90-5AFD-4FBA-ABAE-499975E8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Reddit has no ground-truth label, so the same lexicon logic is tested against Trustpilot stars.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7A6E9-1C27-4ADA-B918-B04D932F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3FDBE-5822-4933-AB94-101F86AB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F7D1F-E67F-4396-B5D7-943A8BCD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93.4%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8AB5A-1B60-4F8C-9E49-B4CD2267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agreement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BD124-A932-4B40-BB95-01B71853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lexicon class vs star 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3EA5E-4E7C-4925-9FC6-1E5EC7C8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9741D-39BE-4D64-9CE2-F9DE577D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83935-4F32-4F8A-BC9F-4CD054B6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0.76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8DE24-9E60-442B-A603-F7561D29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Cohen's kappa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56702-5001-4ACB-9BB9-4BEEA546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substantial agreement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862AB-8B8C-417D-8685-EA317A1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2381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9893B-F16C-4251-84D2-C9417C6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14900"/>
            <a:ext cx="4762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31C44-055C-4499-A3FC-A29577F5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2057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3,534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05928C-7743-4E89-9ED4-001FB735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2057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validation reviews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F5862-E94C-465D-92A7-53D2D2BB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neutral labels removed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97775-7D4D-45E5-AD8D-4733B997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43150"/>
            <a:ext cx="609600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2a14cef9834857"/>
          <a:stretch xmlns:a="http://schemas.openxmlformats.org/drawingml/2006/main"/>
        </p:blipFill>
        <p:spPr>
          <a:xfrm xmlns:a="http://schemas.openxmlformats.org/drawingml/2006/main">
            <a:off x="3825737" y="2419350"/>
            <a:ext cx="5797826" cy="3810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E562FC-4258-42A0-B690-DAC82D1B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718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Use this to defend the Reddit labels as directional, not perfect.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B47C0D-C3D5-4F6C-A55D-2F159E71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0D1864-F727-43A1-BA5E-DF38E1BC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4369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E2EBE-17FD-42B5-9B82-0499E28F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30529A3-7F62-460B-8AEA-94B6CD1F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1123E0-DB2A-49E2-BF48-FBD76914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ROLE GRADIENT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8DAF-480A-49BD-A2E8-91104C5F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Same technology, different reception: users punish AI when it feels imposed.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7A99B-018A-487B-B9DA-4E895F01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781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Reddit shows the role gradient; Trustpilot shows the rental-platform AI penalty in stars.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CE7A2-FDB9-4636-AA51-EB472C4D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Reddit positive share by AI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37665-066D-435B-BB8B-8F8E7860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AI-native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CD36C-2DCA-405A-A44B-07941824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527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B444A-A1D1-4103-9B30-7E2FF47F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52750"/>
            <a:ext cx="236764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641C8-F6DD-46B1-B26F-92D82CC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FA6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FA66B"/>
                </a:solidFill>
                <a:latin typeface="Aptos"/>
                <a:ea typeface="Aptos"/>
                <a:cs typeface="Aptos"/>
              </a:rPr>
              <a:t>58%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3463D-8CA5-4F8C-8357-967E854E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is the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0AD7E-C1A4-437A-85C1-0F1E8BC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Support desk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B06A1-7973-4363-90B9-929DB615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3380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71F3D-3AE7-437D-BAFB-A32B36AD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33800"/>
            <a:ext cx="2286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E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CA1A0-8F7A-4F26-B42F-76169F1C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86175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EB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EB6"/>
                </a:solidFill>
                <a:latin typeface="Aptos"/>
                <a:ea typeface="Aptos"/>
                <a:cs typeface="Aptos"/>
              </a:rPr>
              <a:t>56%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A1938C-1100-44E7-8B3B-ABE14B9A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handles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A27C1-694F-43A3-98C0-F1C0627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6"/>
                </a:solidFill>
                <a:latin typeface="Aptos"/>
                <a:ea typeface="Aptos"/>
                <a:cs typeface="Aptos"/>
              </a:rPr>
              <a:t>Rental add-on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5F8E1-BC00-4149-8109-CD2C09D4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14850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D672AE-C277-40F8-962C-17F3F7BE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14850"/>
            <a:ext cx="2000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E1C98-4160-42C1-ADD8-6272963E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67225"/>
            <a:ext cx="59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6A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6A38"/>
                </a:solidFill>
                <a:latin typeface="Aptos"/>
                <a:ea typeface="Aptos"/>
                <a:cs typeface="Aptos"/>
              </a:rPr>
              <a:t>49%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3A778-E0A9-40E5-9EE5-CF0607DF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mediates a transaction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D88EC-B5FA-4090-A04B-66425C9A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4476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8f36d7f2e4533"/>
          <a:stretch xmlns:a="http://schemas.openxmlformats.org/drawingml/2006/main"/>
        </p:blipFill>
        <p:spPr>
          <a:xfrm xmlns:a="http://schemas.openxmlformats.org/drawingml/2006/main">
            <a:off x="6419201" y="2419350"/>
            <a:ext cx="4249449" cy="28765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A77C1-3447-4A60-A70F-15FB76F1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4476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1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DEC8C-1D53-443F-8141-3B9E7219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6735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21014B-687A-43C1-92FB-7669B775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38800"/>
            <a:ext cx="407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82126"/>
                </a:solidFill>
                <a:latin typeface="Aptos Display"/>
                <a:ea typeface="Aptos Display"/>
                <a:cs typeface="Aptos Display"/>
              </a:rPr>
              <a:t>Headline 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F52D55-0364-406A-8053-247E42F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8170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Acceptance is highest when AI is chosen; it drops when AI is unavoidable in a trust-heavy exchange.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0B7BD-DFAE-4454-90C8-0800172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83DFEB-277F-405B-91E1-ABF7661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C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C625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629106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C6697-ACF6-49C6-A437-D32C7580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4FA871-EA7C-478E-876C-2CBB2526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FC89C6F-68EA-4D98-81FB-7EF86B8C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14BA3-EA49-432F-AEC9-BDE66316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The design answer: transparent, escapable, role-matched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DC507-251A-459B-8C5F-27AD5B2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8920F-AF21-4230-B568-C092EBCF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08F53-884F-4EAD-8DCF-380E0A3B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Keep a human one click 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406EF-44F8-4197-8473-BF0B0B67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765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Escalation is the strongest recurring trust repair.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2C1F5-0E6E-4BFE-9461-357FDC9A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6E31E-EF66-4F4D-B339-88A3026A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0D8F0-ACDD-4B06-B45D-BA30F873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3370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Disclose the AI and its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B5CCC-68BD-4B9F-9948-6A1A30EF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194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Accuracy complaints spike when AI overclaims.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86E70-5B1A-429D-977C-16B5BB92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DA855-C460-4D73-8DBE-C41AC055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BC77B-7CC1-4201-ACD7-57C8445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Optimise first-contact resolution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0AE3B-6C23-470F-A892-6D34D48B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Support and resolution language drives negativity.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9BCEE-A224-4473-8AE8-E49EA903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4DEB8-EBF8-4C21-8AD8-29100A93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0532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119A8-9809-402D-9F3B-71CDFD3E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Match persona to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4F85D-39D4-47FA-B98E-A340EB5D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Warmth works for AI products; efficiency wins in transactions.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92C80-BF04-459E-A889-2294A1C7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FC6D9-D70F-42E3-B3DF-F383E566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2B719-D7C0-4D73-9C95-683C8DFB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Show price and refund rules upfront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FCA00-D7D5-44B9-B6DD-D4A5C302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4830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Rental frustration often starts before AI appears.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3036F0-AC22-47CF-B23D-FE660E35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86000"/>
            <a:ext cx="3333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038"/>
          </a:solidFill>
          <a:ln xmlns:a="http://schemas.openxmlformats.org/drawingml/2006/main" w="9525">
            <a:solidFill>
              <a:srgbClr val="3B4A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8A597-BA0F-40B3-BF48-A7BF0492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7F3EA"/>
                </a:solidFill>
                <a:latin typeface="Aptos Display"/>
                <a:ea typeface="Aptos Display"/>
                <a:cs typeface="Aptos Display"/>
              </a:rPr>
              <a:t>Say this in Q&amp;A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D4D431-4575-40C4-90B5-F3797EB0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2724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The broadened AI-native and support contexts are comparison lenses. The rental/sharing-economy finding is the core contribution and is validated with Trustpilot stars.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473991-0244-4432-A349-2E12EECE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377F1-1DE0-4C51-BEE6-1004C285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672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3E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3EA"/>
                </a:solidFill>
                <a:latin typeface="Aptos"/>
                <a:ea typeface="Aptos"/>
                <a:cs typeface="Aptos"/>
              </a:rPr>
              <a:t>Final thesis: control creates acceptance.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C19BE5-6D20-491F-8BA3-AA5C1DC4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AI Acceptance in the Sharing Economy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5EB2D6-02B1-49D0-94CF-DE354C39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9605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D8D2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8D2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7371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2026-06-08T21:02:38.1970000Z</dcterms:created>
  <dcterms:modified xsi:type="dcterms:W3CDTF">2026-06-08T21:02:38.1970000Z</dcterms:modified>
</coreProperties>
</file>